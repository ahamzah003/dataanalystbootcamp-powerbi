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Lst>
  <p:notesMasterIdLst>
    <p:notesMasterId r:id="rId16"/>
  </p:notesMasterIdLst>
  <p:sldIdLst>
    <p:sldId id="256" r:id="rId3"/>
    <p:sldId id="260" r:id="rId4"/>
    <p:sldId id="271" r:id="rId5"/>
    <p:sldId id="262" r:id="rId6"/>
    <p:sldId id="263" r:id="rId7"/>
    <p:sldId id="261" r:id="rId8"/>
    <p:sldId id="266" r:id="rId9"/>
    <p:sldId id="269" r:id="rId10"/>
    <p:sldId id="267" r:id="rId11"/>
    <p:sldId id="268" r:id="rId12"/>
    <p:sldId id="272" r:id="rId13"/>
    <p:sldId id="257"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5074" autoAdjust="0"/>
    <p:restoredTop sz="86410" autoAdjust="0"/>
  </p:normalViewPr>
  <p:slideViewPr>
    <p:cSldViewPr snapToGrid="0" snapToObjects="1">
      <p:cViewPr varScale="1">
        <p:scale>
          <a:sx n="56" d="100"/>
          <a:sy n="56" d="100"/>
        </p:scale>
        <p:origin x="480" y="6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C98CD3-E5C8-43C2-AE3D-F892B4CB2699}" type="datetimeFigureOut">
              <a:rPr lang="en-US" smtClean="0"/>
              <a:t>2/10/2025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C2EFC1-893D-4DF9-A2E5-4BBD371D92FE}" type="slidenum">
              <a:rPr lang="en-US" smtClean="0"/>
              <a:t>‹#›</a:t>
            </a:fld>
            <a:endParaRPr lang="en-US"/>
          </a:p>
        </p:txBody>
      </p:sp>
    </p:spTree>
    <p:extLst>
      <p:ext uri="{BB962C8B-B14F-4D97-AF65-F5344CB8AC3E}">
        <p14:creationId xmlns:p14="http://schemas.microsoft.com/office/powerpoint/2010/main" val="573104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Average Salary by Job Title</a:t>
            </a:r>
            <a:endParaRPr dirty="0"/>
          </a:p>
          <a:p>
            <a:r>
              <a:rPr b="0" dirty="0"/>
              <a:t>No alt text provided</a:t>
            </a:r>
            <a:endParaRPr dirty="0"/>
          </a:p>
          <a:p>
            <a:endParaRPr dirty="0"/>
          </a:p>
          <a:p>
            <a:r>
              <a:rPr b="1" dirty="0"/>
              <a:t> Most Favorite Programming Languages</a:t>
            </a:r>
            <a:endParaRPr dirty="0"/>
          </a:p>
          <a:p>
            <a:r>
              <a:rPr b="0" dirty="0"/>
              <a:t>No alt text provided</a:t>
            </a:r>
            <a:endParaRPr dirty="0"/>
          </a:p>
          <a:p>
            <a:endParaRPr dirty="0"/>
          </a:p>
          <a:p>
            <a:r>
              <a:rPr b="1" dirty="0"/>
              <a:t>Count of Participants by Country</a:t>
            </a:r>
            <a:endParaRPr dirty="0"/>
          </a:p>
          <a:p>
            <a:r>
              <a:rPr b="0" dirty="0"/>
              <a:t>No alt text provided</a:t>
            </a:r>
            <a:endParaRPr dirty="0"/>
          </a:p>
          <a:p>
            <a:endParaRPr dirty="0"/>
          </a:p>
          <a:p>
            <a:r>
              <a:rPr b="1" dirty="0"/>
              <a:t>Happy Work/Life Balance</a:t>
            </a:r>
            <a:endParaRPr dirty="0"/>
          </a:p>
          <a:p>
            <a:r>
              <a:rPr b="0" dirty="0"/>
              <a:t>No alt text provided</a:t>
            </a:r>
            <a:endParaRPr dirty="0"/>
          </a:p>
          <a:p>
            <a:endParaRPr dirty="0"/>
          </a:p>
          <a:p>
            <a:r>
              <a:rPr b="1" dirty="0"/>
              <a:t>Happy Salary</a:t>
            </a:r>
            <a:endParaRPr dirty="0"/>
          </a:p>
          <a:p>
            <a:r>
              <a:rPr b="0" dirty="0"/>
              <a:t>No alt text provided</a:t>
            </a:r>
            <a:endParaRPr dirty="0"/>
          </a:p>
          <a:p>
            <a:endParaRPr dirty="0"/>
          </a:p>
          <a:p>
            <a:r>
              <a:rPr b="1" dirty="0"/>
              <a:t>Average Salary by Gender</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4207169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710996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3743511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7ED9C8-F09A-4D9E-BEC0-4725162E21FF}"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2766209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7ED9C8-F09A-4D9E-BEC0-4725162E21FF}" type="datetimeFigureOut">
              <a:rPr lang="en-US" smtClean="0"/>
              <a:t>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795865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7ED9C8-F09A-4D9E-BEC0-4725162E21FF}"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8176468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42364344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6778322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7425258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6205790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9141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2/10/2025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2/10/2025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556022980"/>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90d23ecc-56b2-4743-aaa1-d39900b0559c?pbi_source=PowerPoint" TargetMode="Externa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app.powerbi.com/groups/me/reports/90d23ecc-56b2-4743-aaa1-d39900b0559c/?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hyperlink" Target="https://pixabay.com/en/thank-you-letters-2204270/" TargetMode="External"/><Relationship Id="rId2" Type="http://schemas.openxmlformats.org/officeDocument/2006/relationships/image" Target="../media/image12.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2190811" y="2656937"/>
            <a:ext cx="8402426" cy="925288"/>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lang="en-US" b="1" dirty="0">
                <a:solidFill>
                  <a:srgbClr val="F3C910"/>
                </a:solidFill>
                <a:latin typeface="+mj-lt"/>
              </a:rPr>
              <a:t>DATA PROFESSIONALS: SURVEY INSIGHTS</a:t>
            </a:r>
            <a:endParaRPr kumimoji="0" lang="en-US" sz="4400" b="1" i="0" u="none" strike="noStrike" kern="1200" cap="none" spc="0" normalizeH="0" baseline="0" noProof="0" dirty="0">
              <a:ln>
                <a:noFill/>
              </a:ln>
              <a:solidFill>
                <a:srgbClr val="F3C910"/>
              </a:solidFill>
              <a:effectLst/>
              <a:uLnTx/>
              <a:uFillTx/>
              <a:latin typeface="+mj-lt"/>
              <a:ea typeface="Segoe UI Light" charset="0"/>
              <a:cs typeface="Segoe UI Light" charset="0"/>
            </a:endParaRPr>
          </a:p>
        </p:txBody>
      </p:sp>
      <p:sp>
        <p:nvSpPr>
          <p:cNvPr id="13" name="Text Placeholder 2"/>
          <p:cNvSpPr txBox="1">
            <a:spLocks/>
          </p:cNvSpPr>
          <p:nvPr/>
        </p:nvSpPr>
        <p:spPr>
          <a:xfrm>
            <a:off x="5459952" y="3555242"/>
            <a:ext cx="1560786" cy="36933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rId3"/>
              </a:rPr>
              <a:t>View in Power BI</a:t>
            </a:r>
            <a:endParaRPr lang="en-US" dirty="0">
              <a:solidFill>
                <a:schemeClr val="bg1"/>
              </a:solidFill>
            </a:endParaRPr>
          </a:p>
        </p:txBody>
      </p:sp>
      <p:sp>
        <p:nvSpPr>
          <p:cNvPr id="10" name="TextBox 9"/>
          <p:cNvSpPr txBox="1"/>
          <p:nvPr/>
        </p:nvSpPr>
        <p:spPr>
          <a:xfrm>
            <a:off x="4985767" y="5035446"/>
            <a:ext cx="2553718" cy="646331"/>
          </a:xfrm>
          <a:prstGeom prst="rect">
            <a:avLst/>
          </a:prstGeom>
          <a:noFill/>
        </p:spPr>
        <p:txBody>
          <a:bodyPr wrap="square" rtlCol="0">
            <a:spAutoFit/>
          </a:bodyPr>
          <a:lstStyle/>
          <a:p>
            <a:pPr algn="ctr"/>
            <a:r>
              <a:rPr lang="en-US" b="1" dirty="0">
                <a:solidFill>
                  <a:srgbClr val="F3C910"/>
                </a:solidFill>
                <a:latin typeface="+mj-lt"/>
                <a:ea typeface="Segoe UI Semibold" charset="0"/>
                <a:cs typeface="Segoe UI Semibold" charset="0"/>
              </a:rPr>
              <a:t>By:</a:t>
            </a:r>
          </a:p>
          <a:p>
            <a:pPr algn="ctr"/>
            <a:r>
              <a:rPr lang="en-US" b="1" dirty="0">
                <a:solidFill>
                  <a:srgbClr val="F3C910"/>
                </a:solidFill>
                <a:latin typeface="+mj-lt"/>
                <a:ea typeface="Segoe UI Semibold" charset="0"/>
                <a:cs typeface="Segoe UI Semibold" charset="0"/>
              </a:rPr>
              <a:t>Abdulrahman Hamzat</a:t>
            </a:r>
            <a:endParaRPr lang="en-US" b="1" i="0" dirty="0">
              <a:solidFill>
                <a:srgbClr val="F3C910"/>
              </a:solidFill>
              <a:latin typeface="+mj-lt"/>
              <a:ea typeface="Segoe UI Semibold" charset="0"/>
              <a:cs typeface="Segoe UI Semibold"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28944" y="3625164"/>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ED8C5A7-B95B-123F-3079-0D7C5B50C020}"/>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0E0DAE4-800C-A18C-94D1-B16F62E13EC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6072"/>
            <a:ext cx="12192000" cy="6858000"/>
          </a:xfrm>
          <a:prstGeom prst="rect">
            <a:avLst/>
          </a:prstGeom>
        </p:spPr>
      </p:pic>
      <p:pic>
        <p:nvPicPr>
          <p:cNvPr id="16" name="Picture 15" descr="Microsoft Power BI">
            <a:extLst>
              <a:ext uri="{FF2B5EF4-FFF2-40B4-BE49-F238E27FC236}">
                <a16:creationId xmlns:a16="http://schemas.microsoft.com/office/drawing/2014/main" id="{DC94ED0B-4461-0703-0692-AA38BD2347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sp>
        <p:nvSpPr>
          <p:cNvPr id="3" name="TextBox 2">
            <a:extLst>
              <a:ext uri="{FF2B5EF4-FFF2-40B4-BE49-F238E27FC236}">
                <a16:creationId xmlns:a16="http://schemas.microsoft.com/office/drawing/2014/main" id="{7AF78CD8-EB27-CC1C-BB5F-EE58BD2AFFF4}"/>
              </a:ext>
            </a:extLst>
          </p:cNvPr>
          <p:cNvSpPr txBox="1"/>
          <p:nvPr/>
        </p:nvSpPr>
        <p:spPr>
          <a:xfrm>
            <a:off x="923544" y="1138687"/>
            <a:ext cx="10584094" cy="584775"/>
          </a:xfrm>
          <a:prstGeom prst="rect">
            <a:avLst/>
          </a:prstGeom>
          <a:noFill/>
        </p:spPr>
        <p:txBody>
          <a:bodyPr wrap="square" rtlCol="0">
            <a:spAutoFit/>
          </a:bodyPr>
          <a:lstStyle/>
          <a:p>
            <a:pPr algn="ctr"/>
            <a:r>
              <a:rPr lang="en-US" sz="3200" b="1" dirty="0">
                <a:solidFill>
                  <a:srgbClr val="F3C910"/>
                </a:solidFill>
              </a:rPr>
              <a:t>TABLE OF CONTENT</a:t>
            </a:r>
          </a:p>
        </p:txBody>
      </p:sp>
      <p:sp>
        <p:nvSpPr>
          <p:cNvPr id="5" name="TextBox 4">
            <a:extLst>
              <a:ext uri="{FF2B5EF4-FFF2-40B4-BE49-F238E27FC236}">
                <a16:creationId xmlns:a16="http://schemas.microsoft.com/office/drawing/2014/main" id="{1425DD52-4355-6AC2-DF60-83B0B85489EC}"/>
              </a:ext>
            </a:extLst>
          </p:cNvPr>
          <p:cNvSpPr txBox="1"/>
          <p:nvPr/>
        </p:nvSpPr>
        <p:spPr>
          <a:xfrm>
            <a:off x="923544" y="2260121"/>
            <a:ext cx="10584094" cy="3046988"/>
          </a:xfrm>
          <a:prstGeom prst="rect">
            <a:avLst/>
          </a:prstGeom>
          <a:noFill/>
        </p:spPr>
        <p:txBody>
          <a:bodyPr wrap="square" rtlCol="0">
            <a:spAutoFit/>
          </a:bodyPr>
          <a:lstStyle/>
          <a:p>
            <a:pPr algn="just">
              <a:buFont typeface="Wingdings" panose="05000000000000000000" pitchFamily="2" charset="2"/>
              <a:buChar char="q"/>
            </a:pPr>
            <a:r>
              <a:rPr lang="en-US" sz="3200" dirty="0">
                <a:solidFill>
                  <a:srgbClr val="F3C910"/>
                </a:solidFill>
              </a:rPr>
              <a:t> Background</a:t>
            </a:r>
          </a:p>
          <a:p>
            <a:pPr algn="just">
              <a:buFont typeface="Wingdings" panose="05000000000000000000" pitchFamily="2" charset="2"/>
              <a:buChar char="q"/>
            </a:pPr>
            <a:r>
              <a:rPr lang="en-US" sz="3200" dirty="0">
                <a:solidFill>
                  <a:srgbClr val="F3C910"/>
                </a:solidFill>
              </a:rPr>
              <a:t> Project Description</a:t>
            </a:r>
          </a:p>
          <a:p>
            <a:pPr algn="just">
              <a:buFont typeface="Wingdings" panose="05000000000000000000" pitchFamily="2" charset="2"/>
              <a:buChar char="q"/>
            </a:pPr>
            <a:r>
              <a:rPr lang="en-US" sz="3200" dirty="0">
                <a:solidFill>
                  <a:srgbClr val="F3C910"/>
                </a:solidFill>
              </a:rPr>
              <a:t> List of Key Insights</a:t>
            </a:r>
          </a:p>
          <a:p>
            <a:pPr algn="just">
              <a:buFont typeface="Wingdings" panose="05000000000000000000" pitchFamily="2" charset="2"/>
              <a:buChar char="q"/>
            </a:pPr>
            <a:r>
              <a:rPr lang="en-US" sz="3200" dirty="0">
                <a:solidFill>
                  <a:srgbClr val="F3C910"/>
                </a:solidFill>
              </a:rPr>
              <a:t> Key Insights</a:t>
            </a:r>
          </a:p>
          <a:p>
            <a:pPr algn="just">
              <a:buFont typeface="Wingdings" panose="05000000000000000000" pitchFamily="2" charset="2"/>
              <a:buChar char="q"/>
            </a:pPr>
            <a:r>
              <a:rPr lang="en-US" sz="3200" dirty="0">
                <a:solidFill>
                  <a:srgbClr val="F3C910"/>
                </a:solidFill>
              </a:rPr>
              <a:t> Summary and Conclusion</a:t>
            </a:r>
          </a:p>
          <a:p>
            <a:pPr algn="just">
              <a:buFont typeface="Wingdings" panose="05000000000000000000" pitchFamily="2" charset="2"/>
              <a:buChar char="q"/>
            </a:pPr>
            <a:r>
              <a:rPr lang="en-US" sz="3200" dirty="0">
                <a:solidFill>
                  <a:srgbClr val="F3C910"/>
                </a:solidFill>
              </a:rPr>
              <a:t> Dashboard</a:t>
            </a:r>
          </a:p>
        </p:txBody>
      </p:sp>
    </p:spTree>
    <p:extLst>
      <p:ext uri="{BB962C8B-B14F-4D97-AF65-F5344CB8AC3E}">
        <p14:creationId xmlns:p14="http://schemas.microsoft.com/office/powerpoint/2010/main" val="1617282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129CCB9-86A0-A2A7-5AC1-58611027E4B5}"/>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3CA4B78-A732-FD6D-B7EA-D224B35DBE5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6072"/>
            <a:ext cx="12192000" cy="6858000"/>
          </a:xfrm>
          <a:prstGeom prst="rect">
            <a:avLst/>
          </a:prstGeom>
        </p:spPr>
      </p:pic>
      <p:pic>
        <p:nvPicPr>
          <p:cNvPr id="16" name="Picture 15" descr="Microsoft Power BI">
            <a:extLst>
              <a:ext uri="{FF2B5EF4-FFF2-40B4-BE49-F238E27FC236}">
                <a16:creationId xmlns:a16="http://schemas.microsoft.com/office/drawing/2014/main" id="{3B1994F9-FDB9-D365-9164-1E37B04B4F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sp>
        <p:nvSpPr>
          <p:cNvPr id="3" name="TextBox 2">
            <a:extLst>
              <a:ext uri="{FF2B5EF4-FFF2-40B4-BE49-F238E27FC236}">
                <a16:creationId xmlns:a16="http://schemas.microsoft.com/office/drawing/2014/main" id="{F9E38FD0-80BA-3FEE-BBDC-BBDCAA9DF85F}"/>
              </a:ext>
            </a:extLst>
          </p:cNvPr>
          <p:cNvSpPr txBox="1"/>
          <p:nvPr/>
        </p:nvSpPr>
        <p:spPr>
          <a:xfrm>
            <a:off x="923544" y="1138687"/>
            <a:ext cx="10584094" cy="584775"/>
          </a:xfrm>
          <a:prstGeom prst="rect">
            <a:avLst/>
          </a:prstGeom>
          <a:noFill/>
        </p:spPr>
        <p:txBody>
          <a:bodyPr wrap="square" rtlCol="0">
            <a:spAutoFit/>
          </a:bodyPr>
          <a:lstStyle/>
          <a:p>
            <a:pPr algn="ctr"/>
            <a:r>
              <a:rPr lang="en-US" sz="3200" b="1" dirty="0">
                <a:solidFill>
                  <a:srgbClr val="F3C910"/>
                </a:solidFill>
              </a:rPr>
              <a:t>BACKGROUND</a:t>
            </a:r>
          </a:p>
        </p:txBody>
      </p:sp>
      <p:sp>
        <p:nvSpPr>
          <p:cNvPr id="5" name="TextBox 4">
            <a:extLst>
              <a:ext uri="{FF2B5EF4-FFF2-40B4-BE49-F238E27FC236}">
                <a16:creationId xmlns:a16="http://schemas.microsoft.com/office/drawing/2014/main" id="{1123B854-5991-DFAB-2058-090BA2F677F2}"/>
              </a:ext>
            </a:extLst>
          </p:cNvPr>
          <p:cNvSpPr txBox="1"/>
          <p:nvPr/>
        </p:nvSpPr>
        <p:spPr>
          <a:xfrm>
            <a:off x="923544" y="2260121"/>
            <a:ext cx="10584094" cy="3539430"/>
          </a:xfrm>
          <a:prstGeom prst="rect">
            <a:avLst/>
          </a:prstGeom>
          <a:noFill/>
        </p:spPr>
        <p:txBody>
          <a:bodyPr wrap="square" rtlCol="0">
            <a:spAutoFit/>
          </a:bodyPr>
          <a:lstStyle/>
          <a:p>
            <a:pPr algn="just"/>
            <a:r>
              <a:rPr lang="en-US" sz="3200" dirty="0">
                <a:solidFill>
                  <a:srgbClr val="F3C910"/>
                </a:solidFill>
              </a:rPr>
              <a:t>The dataset used for this project is a survey of various data professionals created by </a:t>
            </a:r>
            <a:r>
              <a:rPr lang="en-US" sz="3200" dirty="0" err="1">
                <a:solidFill>
                  <a:srgbClr val="F3C910"/>
                </a:solidFill>
              </a:rPr>
              <a:t>AlexTheAnalyst</a:t>
            </a:r>
            <a:r>
              <a:rPr lang="en-US" sz="3200" dirty="0">
                <a:solidFill>
                  <a:srgbClr val="F3C910"/>
                </a:solidFill>
              </a:rPr>
              <a:t>. The survey, conducted in 2022, had 630 anonymous participants from around the globe. The dataset provides information on the participants’ current roles, current salaries, industries, favorite programming languages, genders, level of happiness with salaries, work-life balance, and more.</a:t>
            </a:r>
          </a:p>
        </p:txBody>
      </p:sp>
    </p:spTree>
    <p:extLst>
      <p:ext uri="{BB962C8B-B14F-4D97-AF65-F5344CB8AC3E}">
        <p14:creationId xmlns:p14="http://schemas.microsoft.com/office/powerpoint/2010/main" val="734998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47122B0-5234-09C2-26E7-A2A084917E27}"/>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537EF9BC-C4FC-E1E9-526B-47D3B0BC6FF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6072"/>
            <a:ext cx="12192000" cy="6858000"/>
          </a:xfrm>
          <a:prstGeom prst="rect">
            <a:avLst/>
          </a:prstGeom>
        </p:spPr>
      </p:pic>
      <p:pic>
        <p:nvPicPr>
          <p:cNvPr id="16" name="Picture 15" descr="Microsoft Power BI">
            <a:extLst>
              <a:ext uri="{FF2B5EF4-FFF2-40B4-BE49-F238E27FC236}">
                <a16:creationId xmlns:a16="http://schemas.microsoft.com/office/drawing/2014/main" id="{C5F5EED5-87F9-7023-F1B9-25EF8A2DA6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sp>
        <p:nvSpPr>
          <p:cNvPr id="3" name="TextBox 2">
            <a:extLst>
              <a:ext uri="{FF2B5EF4-FFF2-40B4-BE49-F238E27FC236}">
                <a16:creationId xmlns:a16="http://schemas.microsoft.com/office/drawing/2014/main" id="{5507A5F5-9BA4-FAA7-06B2-CA95E24DB5FD}"/>
              </a:ext>
            </a:extLst>
          </p:cNvPr>
          <p:cNvSpPr txBox="1"/>
          <p:nvPr/>
        </p:nvSpPr>
        <p:spPr>
          <a:xfrm>
            <a:off x="923544" y="1138687"/>
            <a:ext cx="10584094" cy="584775"/>
          </a:xfrm>
          <a:prstGeom prst="rect">
            <a:avLst/>
          </a:prstGeom>
          <a:noFill/>
        </p:spPr>
        <p:txBody>
          <a:bodyPr wrap="square" rtlCol="0">
            <a:spAutoFit/>
          </a:bodyPr>
          <a:lstStyle/>
          <a:p>
            <a:pPr algn="ctr"/>
            <a:r>
              <a:rPr lang="en-US" sz="3200" b="1" dirty="0">
                <a:solidFill>
                  <a:srgbClr val="F3C910"/>
                </a:solidFill>
              </a:rPr>
              <a:t>PROJECT DESCRIPTION</a:t>
            </a:r>
          </a:p>
        </p:txBody>
      </p:sp>
      <p:sp>
        <p:nvSpPr>
          <p:cNvPr id="5" name="TextBox 4">
            <a:extLst>
              <a:ext uri="{FF2B5EF4-FFF2-40B4-BE49-F238E27FC236}">
                <a16:creationId xmlns:a16="http://schemas.microsoft.com/office/drawing/2014/main" id="{27046B29-943F-80EE-4DA0-74A979A1E250}"/>
              </a:ext>
            </a:extLst>
          </p:cNvPr>
          <p:cNvSpPr txBox="1"/>
          <p:nvPr/>
        </p:nvSpPr>
        <p:spPr>
          <a:xfrm>
            <a:off x="923544" y="2260121"/>
            <a:ext cx="10584094" cy="3046988"/>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solidFill>
                  <a:srgbClr val="F3C910"/>
                </a:solidFill>
              </a:rPr>
              <a:t>To better understand variations among the listed data professions, such as, popularity, salary, programming language, etc.</a:t>
            </a:r>
          </a:p>
          <a:p>
            <a:pPr algn="just"/>
            <a:endParaRPr lang="en-US" sz="3200" dirty="0">
              <a:solidFill>
                <a:srgbClr val="F3C910"/>
              </a:solidFill>
            </a:endParaRPr>
          </a:p>
          <a:p>
            <a:pPr marL="457200" indent="-457200" algn="just">
              <a:buFont typeface="Arial" panose="020B0604020202020204" pitchFamily="34" charset="0"/>
              <a:buChar char="•"/>
            </a:pPr>
            <a:r>
              <a:rPr lang="en-US" sz="3200" dirty="0">
                <a:solidFill>
                  <a:srgbClr val="F3C910"/>
                </a:solidFill>
              </a:rPr>
              <a:t>This will help to discover underlying trends based on the submitted responses.</a:t>
            </a:r>
          </a:p>
        </p:txBody>
      </p:sp>
    </p:spTree>
    <p:extLst>
      <p:ext uri="{BB962C8B-B14F-4D97-AF65-F5344CB8AC3E}">
        <p14:creationId xmlns:p14="http://schemas.microsoft.com/office/powerpoint/2010/main" val="3354116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A94AFA9-7DC3-38FD-398B-F1BF86DF63DF}"/>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5E05F66-B4C8-F459-69C4-CD2B0F8DFE4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6072"/>
            <a:ext cx="12192000" cy="6858000"/>
          </a:xfrm>
          <a:prstGeom prst="rect">
            <a:avLst/>
          </a:prstGeom>
        </p:spPr>
      </p:pic>
      <p:pic>
        <p:nvPicPr>
          <p:cNvPr id="16" name="Picture 15" descr="Microsoft Power BI">
            <a:extLst>
              <a:ext uri="{FF2B5EF4-FFF2-40B4-BE49-F238E27FC236}">
                <a16:creationId xmlns:a16="http://schemas.microsoft.com/office/drawing/2014/main" id="{9EE0B7B9-55BA-ABCB-1079-C91AB89BEF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sp>
        <p:nvSpPr>
          <p:cNvPr id="3" name="TextBox 2">
            <a:extLst>
              <a:ext uri="{FF2B5EF4-FFF2-40B4-BE49-F238E27FC236}">
                <a16:creationId xmlns:a16="http://schemas.microsoft.com/office/drawing/2014/main" id="{1882E384-C923-DD19-903D-80E2329A9F4A}"/>
              </a:ext>
            </a:extLst>
          </p:cNvPr>
          <p:cNvSpPr txBox="1"/>
          <p:nvPr/>
        </p:nvSpPr>
        <p:spPr>
          <a:xfrm>
            <a:off x="923544" y="1138687"/>
            <a:ext cx="10584094" cy="584775"/>
          </a:xfrm>
          <a:prstGeom prst="rect">
            <a:avLst/>
          </a:prstGeom>
          <a:noFill/>
        </p:spPr>
        <p:txBody>
          <a:bodyPr wrap="square" rtlCol="0">
            <a:spAutoFit/>
          </a:bodyPr>
          <a:lstStyle/>
          <a:p>
            <a:pPr algn="ctr"/>
            <a:r>
              <a:rPr lang="en-US" sz="3200" b="1" dirty="0">
                <a:solidFill>
                  <a:srgbClr val="F3C910"/>
                </a:solidFill>
              </a:rPr>
              <a:t>LIST OF KEY INSIGHTS</a:t>
            </a:r>
          </a:p>
        </p:txBody>
      </p:sp>
      <p:sp>
        <p:nvSpPr>
          <p:cNvPr id="5" name="TextBox 4">
            <a:extLst>
              <a:ext uri="{FF2B5EF4-FFF2-40B4-BE49-F238E27FC236}">
                <a16:creationId xmlns:a16="http://schemas.microsoft.com/office/drawing/2014/main" id="{33B7B930-D32E-B0E9-78ED-60AB82F202CA}"/>
              </a:ext>
            </a:extLst>
          </p:cNvPr>
          <p:cNvSpPr txBox="1"/>
          <p:nvPr/>
        </p:nvSpPr>
        <p:spPr>
          <a:xfrm>
            <a:off x="923544" y="2260121"/>
            <a:ext cx="10584094" cy="2554545"/>
          </a:xfrm>
          <a:prstGeom prst="rect">
            <a:avLst/>
          </a:prstGeom>
          <a:noFill/>
        </p:spPr>
        <p:txBody>
          <a:bodyPr wrap="square" rtlCol="0">
            <a:spAutoFit/>
          </a:bodyPr>
          <a:lstStyle/>
          <a:p>
            <a:pPr marL="514350" indent="-514350" algn="just">
              <a:buFont typeface="+mj-lt"/>
              <a:buAutoNum type="arabicPeriod"/>
            </a:pPr>
            <a:r>
              <a:rPr lang="en-US" sz="3200" dirty="0">
                <a:solidFill>
                  <a:srgbClr val="F3C910"/>
                </a:solidFill>
              </a:rPr>
              <a:t>Average salary by current job title.</a:t>
            </a:r>
          </a:p>
          <a:p>
            <a:pPr marL="514350" indent="-514350" algn="just">
              <a:buFont typeface="+mj-lt"/>
              <a:buAutoNum type="arabicPeriod"/>
            </a:pPr>
            <a:r>
              <a:rPr lang="en-US" sz="3200" dirty="0">
                <a:solidFill>
                  <a:srgbClr val="F3C910"/>
                </a:solidFill>
              </a:rPr>
              <a:t>Happiness with work-life balance and salary.</a:t>
            </a:r>
          </a:p>
          <a:p>
            <a:pPr marL="514350" indent="-514350" algn="just">
              <a:buFont typeface="+mj-lt"/>
              <a:buAutoNum type="arabicPeriod"/>
            </a:pPr>
            <a:r>
              <a:rPr lang="en-US" sz="3200" dirty="0">
                <a:solidFill>
                  <a:srgbClr val="F3C910"/>
                </a:solidFill>
              </a:rPr>
              <a:t>Most favorite programming language.</a:t>
            </a:r>
          </a:p>
          <a:p>
            <a:pPr marL="514350" indent="-514350" algn="just">
              <a:buFont typeface="+mj-lt"/>
              <a:buAutoNum type="arabicPeriod"/>
            </a:pPr>
            <a:r>
              <a:rPr lang="en-US" sz="3200" dirty="0">
                <a:solidFill>
                  <a:srgbClr val="F3C910"/>
                </a:solidFill>
              </a:rPr>
              <a:t>Career switch.</a:t>
            </a:r>
          </a:p>
          <a:p>
            <a:pPr marL="514350" indent="-514350" algn="just">
              <a:buFont typeface="+mj-lt"/>
              <a:buAutoNum type="arabicPeriod"/>
            </a:pPr>
            <a:r>
              <a:rPr lang="en-US" sz="3200" dirty="0">
                <a:solidFill>
                  <a:srgbClr val="F3C910"/>
                </a:solidFill>
              </a:rPr>
              <a:t>Count of current job titles.</a:t>
            </a:r>
          </a:p>
        </p:txBody>
      </p:sp>
    </p:spTree>
    <p:extLst>
      <p:ext uri="{BB962C8B-B14F-4D97-AF65-F5344CB8AC3E}">
        <p14:creationId xmlns:p14="http://schemas.microsoft.com/office/powerpoint/2010/main" val="1722940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7D89F33-4397-1E66-CD8E-9CA330B66C85}"/>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B7255EF-7E77-A403-D733-09B55EE33E0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6" name="Picture 15" descr="Microsoft Power BI">
            <a:extLst>
              <a:ext uri="{FF2B5EF4-FFF2-40B4-BE49-F238E27FC236}">
                <a16:creationId xmlns:a16="http://schemas.microsoft.com/office/drawing/2014/main" id="{9DCA6CA0-629B-734F-4940-40D865CFE2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sp>
        <p:nvSpPr>
          <p:cNvPr id="5" name="Title 4">
            <a:extLst>
              <a:ext uri="{FF2B5EF4-FFF2-40B4-BE49-F238E27FC236}">
                <a16:creationId xmlns:a16="http://schemas.microsoft.com/office/drawing/2014/main" id="{3C9C0F97-6B4B-4E92-2EF1-A4A26B19C831}"/>
              </a:ext>
            </a:extLst>
          </p:cNvPr>
          <p:cNvSpPr>
            <a:spLocks noGrp="1"/>
          </p:cNvSpPr>
          <p:nvPr>
            <p:ph type="title"/>
          </p:nvPr>
        </p:nvSpPr>
        <p:spPr>
          <a:xfrm>
            <a:off x="839788" y="457200"/>
            <a:ext cx="10633343" cy="1600200"/>
          </a:xfrm>
        </p:spPr>
        <p:txBody>
          <a:bodyPr/>
          <a:lstStyle/>
          <a:p>
            <a:pPr algn="ctr"/>
            <a:r>
              <a:rPr lang="en-US" b="1" dirty="0">
                <a:solidFill>
                  <a:srgbClr val="F3C910"/>
                </a:solidFill>
                <a:latin typeface="+mn-lt"/>
              </a:rPr>
              <a:t>KEY INSIGHTS</a:t>
            </a:r>
            <a:br>
              <a:rPr lang="en-US" b="1" dirty="0">
                <a:solidFill>
                  <a:srgbClr val="F3C910"/>
                </a:solidFill>
                <a:latin typeface="+mn-lt"/>
              </a:rPr>
            </a:br>
            <a:r>
              <a:rPr lang="en-US" sz="3200" b="1" dirty="0">
                <a:solidFill>
                  <a:srgbClr val="F3C910"/>
                </a:solidFill>
                <a:latin typeface="+mn-lt"/>
              </a:rPr>
              <a:t>Average Salary </a:t>
            </a:r>
            <a:r>
              <a:rPr lang="en-US" b="1" dirty="0">
                <a:solidFill>
                  <a:srgbClr val="F3C910"/>
                </a:solidFill>
                <a:latin typeface="+mn-lt"/>
              </a:rPr>
              <a:t>B</a:t>
            </a:r>
            <a:r>
              <a:rPr lang="en-US" sz="3200" b="1" dirty="0">
                <a:solidFill>
                  <a:srgbClr val="F3C910"/>
                </a:solidFill>
                <a:latin typeface="+mn-lt"/>
              </a:rPr>
              <a:t>y </a:t>
            </a:r>
            <a:r>
              <a:rPr lang="en-US" b="1" dirty="0">
                <a:solidFill>
                  <a:srgbClr val="F3C910"/>
                </a:solidFill>
                <a:latin typeface="+mn-lt"/>
              </a:rPr>
              <a:t>C</a:t>
            </a:r>
            <a:r>
              <a:rPr lang="en-US" sz="3200" b="1" dirty="0">
                <a:solidFill>
                  <a:srgbClr val="F3C910"/>
                </a:solidFill>
                <a:latin typeface="+mn-lt"/>
              </a:rPr>
              <a:t>urrent </a:t>
            </a:r>
            <a:r>
              <a:rPr lang="en-US" b="1" dirty="0">
                <a:solidFill>
                  <a:srgbClr val="F3C910"/>
                </a:solidFill>
                <a:latin typeface="+mn-lt"/>
              </a:rPr>
              <a:t>J</a:t>
            </a:r>
            <a:r>
              <a:rPr lang="en-US" sz="3200" b="1" dirty="0">
                <a:solidFill>
                  <a:srgbClr val="F3C910"/>
                </a:solidFill>
                <a:latin typeface="+mn-lt"/>
              </a:rPr>
              <a:t>ob </a:t>
            </a:r>
            <a:r>
              <a:rPr lang="en-US" b="1" dirty="0">
                <a:solidFill>
                  <a:srgbClr val="F3C910"/>
                </a:solidFill>
                <a:latin typeface="+mn-lt"/>
              </a:rPr>
              <a:t>T</a:t>
            </a:r>
            <a:r>
              <a:rPr lang="en-US" sz="3200" b="1" dirty="0">
                <a:solidFill>
                  <a:srgbClr val="F3C910"/>
                </a:solidFill>
                <a:latin typeface="+mn-lt"/>
              </a:rPr>
              <a:t>itle</a:t>
            </a:r>
            <a:endParaRPr lang="en-US" b="1" dirty="0">
              <a:solidFill>
                <a:srgbClr val="F3C910"/>
              </a:solidFill>
              <a:latin typeface="+mn-lt"/>
            </a:endParaRPr>
          </a:p>
        </p:txBody>
      </p:sp>
      <p:pic>
        <p:nvPicPr>
          <p:cNvPr id="12" name="Content Placeholder 11">
            <a:extLst>
              <a:ext uri="{FF2B5EF4-FFF2-40B4-BE49-F238E27FC236}">
                <a16:creationId xmlns:a16="http://schemas.microsoft.com/office/drawing/2014/main" id="{C575C589-736B-0EB1-9A84-F7F4210B43A1}"/>
              </a:ext>
            </a:extLst>
          </p:cNvPr>
          <p:cNvPicPr>
            <a:picLocks noGrp="1" noChangeAspect="1"/>
          </p:cNvPicPr>
          <p:nvPr>
            <p:ph idx="1"/>
          </p:nvPr>
        </p:nvPicPr>
        <p:blipFill>
          <a:blip r:embed="rId4"/>
          <a:stretch>
            <a:fillRect/>
          </a:stretch>
        </p:blipFill>
        <p:spPr>
          <a:xfrm>
            <a:off x="6538823" y="2322576"/>
            <a:ext cx="4934308" cy="3811588"/>
          </a:xfrm>
        </p:spPr>
      </p:pic>
      <p:sp>
        <p:nvSpPr>
          <p:cNvPr id="7" name="Text Placeholder 6">
            <a:extLst>
              <a:ext uri="{FF2B5EF4-FFF2-40B4-BE49-F238E27FC236}">
                <a16:creationId xmlns:a16="http://schemas.microsoft.com/office/drawing/2014/main" id="{782CA54C-BED4-1928-6C07-C3E198D8A192}"/>
              </a:ext>
            </a:extLst>
          </p:cNvPr>
          <p:cNvSpPr>
            <a:spLocks noGrp="1"/>
          </p:cNvSpPr>
          <p:nvPr>
            <p:ph type="body" sz="half" idx="2"/>
          </p:nvPr>
        </p:nvSpPr>
        <p:spPr>
          <a:xfrm>
            <a:off x="839788" y="2322576"/>
            <a:ext cx="5256212" cy="3811588"/>
          </a:xfrm>
        </p:spPr>
        <p:txBody>
          <a:bodyPr>
            <a:normAutofit/>
          </a:bodyPr>
          <a:lstStyle/>
          <a:p>
            <a:pPr algn="just"/>
            <a:endParaRPr lang="en-US" sz="3200" dirty="0">
              <a:solidFill>
                <a:srgbClr val="F3C910"/>
              </a:solidFill>
            </a:endParaRPr>
          </a:p>
          <a:p>
            <a:pPr algn="just"/>
            <a:r>
              <a:rPr lang="en-US" sz="3200" dirty="0">
                <a:solidFill>
                  <a:srgbClr val="F3C910"/>
                </a:solidFill>
              </a:rPr>
              <a:t>Data scientists have the highest average salary of $93.78. $65.09 for the Data Engineers, and $55.30 for the Data analysts.</a:t>
            </a:r>
          </a:p>
        </p:txBody>
      </p:sp>
    </p:spTree>
    <p:extLst>
      <p:ext uri="{BB962C8B-B14F-4D97-AF65-F5344CB8AC3E}">
        <p14:creationId xmlns:p14="http://schemas.microsoft.com/office/powerpoint/2010/main" val="4021066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C3AB8C4-1176-EF7E-2895-2D71DD268AAE}"/>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1074797-1595-6ED4-03D1-A3F9949C35F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253"/>
            <a:ext cx="12192000" cy="6858000"/>
          </a:xfrm>
          <a:prstGeom prst="rect">
            <a:avLst/>
          </a:prstGeom>
        </p:spPr>
      </p:pic>
      <p:pic>
        <p:nvPicPr>
          <p:cNvPr id="16" name="Picture 15" descr="Microsoft Power BI">
            <a:extLst>
              <a:ext uri="{FF2B5EF4-FFF2-40B4-BE49-F238E27FC236}">
                <a16:creationId xmlns:a16="http://schemas.microsoft.com/office/drawing/2014/main" id="{C6A3386B-088C-BDE1-3645-4CE7E9CAC4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sp>
        <p:nvSpPr>
          <p:cNvPr id="5" name="Title 4">
            <a:extLst>
              <a:ext uri="{FF2B5EF4-FFF2-40B4-BE49-F238E27FC236}">
                <a16:creationId xmlns:a16="http://schemas.microsoft.com/office/drawing/2014/main" id="{89E1F4BD-25AA-EC67-5126-65984846B33A}"/>
              </a:ext>
            </a:extLst>
          </p:cNvPr>
          <p:cNvSpPr>
            <a:spLocks noGrp="1"/>
          </p:cNvSpPr>
          <p:nvPr>
            <p:ph type="title"/>
          </p:nvPr>
        </p:nvSpPr>
        <p:spPr>
          <a:xfrm>
            <a:off x="839788" y="457200"/>
            <a:ext cx="10633343" cy="1600200"/>
          </a:xfrm>
        </p:spPr>
        <p:txBody>
          <a:bodyPr/>
          <a:lstStyle/>
          <a:p>
            <a:pPr algn="ctr"/>
            <a:r>
              <a:rPr lang="en-US" b="1" dirty="0">
                <a:solidFill>
                  <a:srgbClr val="F3C910"/>
                </a:solidFill>
                <a:latin typeface="+mn-lt"/>
              </a:rPr>
              <a:t>KEY INSIGHTS</a:t>
            </a:r>
            <a:br>
              <a:rPr lang="en-US" b="1" dirty="0">
                <a:solidFill>
                  <a:srgbClr val="F3C910"/>
                </a:solidFill>
                <a:latin typeface="+mn-lt"/>
              </a:rPr>
            </a:br>
            <a:r>
              <a:rPr lang="en-US" b="1" dirty="0">
                <a:solidFill>
                  <a:srgbClr val="F3C910"/>
                </a:solidFill>
                <a:latin typeface="+mn-lt"/>
              </a:rPr>
              <a:t>Happiness With Work-Life Balance And Salary</a:t>
            </a:r>
          </a:p>
        </p:txBody>
      </p:sp>
      <p:pic>
        <p:nvPicPr>
          <p:cNvPr id="19" name="Picture 18">
            <a:extLst>
              <a:ext uri="{FF2B5EF4-FFF2-40B4-BE49-F238E27FC236}">
                <a16:creationId xmlns:a16="http://schemas.microsoft.com/office/drawing/2014/main" id="{489E26AA-934D-A41D-DE7E-3E3981E88EC0}"/>
              </a:ext>
            </a:extLst>
          </p:cNvPr>
          <p:cNvPicPr>
            <a:picLocks noChangeAspect="1"/>
          </p:cNvPicPr>
          <p:nvPr/>
        </p:nvPicPr>
        <p:blipFill>
          <a:blip r:embed="rId4"/>
          <a:srcRect/>
          <a:stretch/>
        </p:blipFill>
        <p:spPr>
          <a:xfrm>
            <a:off x="923544" y="2876914"/>
            <a:ext cx="5172457" cy="2592238"/>
          </a:xfrm>
          <a:prstGeom prst="rect">
            <a:avLst/>
          </a:prstGeom>
        </p:spPr>
      </p:pic>
      <p:pic>
        <p:nvPicPr>
          <p:cNvPr id="21" name="Picture 20">
            <a:extLst>
              <a:ext uri="{FF2B5EF4-FFF2-40B4-BE49-F238E27FC236}">
                <a16:creationId xmlns:a16="http://schemas.microsoft.com/office/drawing/2014/main" id="{20F4D6A8-316B-602F-0968-46A81136B860}"/>
              </a:ext>
            </a:extLst>
          </p:cNvPr>
          <p:cNvPicPr>
            <a:picLocks noChangeAspect="1"/>
          </p:cNvPicPr>
          <p:nvPr/>
        </p:nvPicPr>
        <p:blipFill>
          <a:blip r:embed="rId5"/>
          <a:srcRect/>
          <a:stretch/>
        </p:blipFill>
        <p:spPr>
          <a:xfrm>
            <a:off x="6521570" y="2842406"/>
            <a:ext cx="4951561" cy="2592238"/>
          </a:xfrm>
          <a:prstGeom prst="rect">
            <a:avLst/>
          </a:prstGeom>
        </p:spPr>
      </p:pic>
      <p:sp>
        <p:nvSpPr>
          <p:cNvPr id="22" name="TextBox 21">
            <a:extLst>
              <a:ext uri="{FF2B5EF4-FFF2-40B4-BE49-F238E27FC236}">
                <a16:creationId xmlns:a16="http://schemas.microsoft.com/office/drawing/2014/main" id="{73D0143D-5ABA-09BC-3BC5-FDE23F8A5AE7}"/>
              </a:ext>
            </a:extLst>
          </p:cNvPr>
          <p:cNvSpPr txBox="1"/>
          <p:nvPr/>
        </p:nvSpPr>
        <p:spPr>
          <a:xfrm>
            <a:off x="923545" y="5571729"/>
            <a:ext cx="10549586" cy="1569660"/>
          </a:xfrm>
          <a:prstGeom prst="rect">
            <a:avLst/>
          </a:prstGeom>
          <a:noFill/>
        </p:spPr>
        <p:txBody>
          <a:bodyPr wrap="square" rtlCol="0">
            <a:spAutoFit/>
          </a:bodyPr>
          <a:lstStyle/>
          <a:p>
            <a:pPr algn="just"/>
            <a:r>
              <a:rPr lang="en-US" sz="2800" dirty="0">
                <a:solidFill>
                  <a:srgbClr val="F3C910"/>
                </a:solidFill>
              </a:rPr>
              <a:t>Both group of professionals have above average satisfaction with work-life balance. However, the data analysts have a below average score unlike the data scientists for salary satisfaction.</a:t>
            </a:r>
          </a:p>
          <a:p>
            <a:endParaRPr lang="en-US" sz="1200" dirty="0"/>
          </a:p>
        </p:txBody>
      </p:sp>
      <p:sp>
        <p:nvSpPr>
          <p:cNvPr id="2" name="TextBox 1">
            <a:extLst>
              <a:ext uri="{FF2B5EF4-FFF2-40B4-BE49-F238E27FC236}">
                <a16:creationId xmlns:a16="http://schemas.microsoft.com/office/drawing/2014/main" id="{D384087A-E00A-9412-FFA3-1C1F32854039}"/>
              </a:ext>
            </a:extLst>
          </p:cNvPr>
          <p:cNvSpPr txBox="1"/>
          <p:nvPr/>
        </p:nvSpPr>
        <p:spPr>
          <a:xfrm>
            <a:off x="923544" y="2179896"/>
            <a:ext cx="5172457" cy="523220"/>
          </a:xfrm>
          <a:prstGeom prst="rect">
            <a:avLst/>
          </a:prstGeom>
          <a:noFill/>
        </p:spPr>
        <p:txBody>
          <a:bodyPr wrap="square" rtlCol="0">
            <a:spAutoFit/>
          </a:bodyPr>
          <a:lstStyle/>
          <a:p>
            <a:pPr algn="ctr"/>
            <a:r>
              <a:rPr lang="en-US" sz="2800" dirty="0">
                <a:solidFill>
                  <a:srgbClr val="F3C910"/>
                </a:solidFill>
              </a:rPr>
              <a:t>Data Scientists</a:t>
            </a:r>
          </a:p>
        </p:txBody>
      </p:sp>
      <p:sp>
        <p:nvSpPr>
          <p:cNvPr id="3" name="TextBox 2">
            <a:extLst>
              <a:ext uri="{FF2B5EF4-FFF2-40B4-BE49-F238E27FC236}">
                <a16:creationId xmlns:a16="http://schemas.microsoft.com/office/drawing/2014/main" id="{B25D7F4C-FCD2-D3AD-DFBA-24027CFDD975}"/>
              </a:ext>
            </a:extLst>
          </p:cNvPr>
          <p:cNvSpPr txBox="1"/>
          <p:nvPr/>
        </p:nvSpPr>
        <p:spPr>
          <a:xfrm>
            <a:off x="6521570" y="2194272"/>
            <a:ext cx="4951560" cy="523220"/>
          </a:xfrm>
          <a:prstGeom prst="rect">
            <a:avLst/>
          </a:prstGeom>
          <a:noFill/>
        </p:spPr>
        <p:txBody>
          <a:bodyPr wrap="square" rtlCol="0">
            <a:spAutoFit/>
          </a:bodyPr>
          <a:lstStyle/>
          <a:p>
            <a:pPr algn="ctr"/>
            <a:r>
              <a:rPr lang="en-US" sz="2800" dirty="0">
                <a:solidFill>
                  <a:srgbClr val="F3C910"/>
                </a:solidFill>
              </a:rPr>
              <a:t>Data Analysts</a:t>
            </a:r>
          </a:p>
        </p:txBody>
      </p:sp>
    </p:spTree>
    <p:extLst>
      <p:ext uri="{BB962C8B-B14F-4D97-AF65-F5344CB8AC3E}">
        <p14:creationId xmlns:p14="http://schemas.microsoft.com/office/powerpoint/2010/main" val="3065325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12A8FF0-E9B6-AE45-12C3-20E65B7E6D6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A511241-62E8-A235-D087-785AA55C8D3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253"/>
            <a:ext cx="12192000" cy="6858000"/>
          </a:xfrm>
          <a:prstGeom prst="rect">
            <a:avLst/>
          </a:prstGeom>
        </p:spPr>
      </p:pic>
      <p:pic>
        <p:nvPicPr>
          <p:cNvPr id="16" name="Picture 15" descr="Microsoft Power BI">
            <a:extLst>
              <a:ext uri="{FF2B5EF4-FFF2-40B4-BE49-F238E27FC236}">
                <a16:creationId xmlns:a16="http://schemas.microsoft.com/office/drawing/2014/main" id="{85BC02F4-0E56-B404-E620-71F14D15BD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sp>
        <p:nvSpPr>
          <p:cNvPr id="5" name="Title 4">
            <a:extLst>
              <a:ext uri="{FF2B5EF4-FFF2-40B4-BE49-F238E27FC236}">
                <a16:creationId xmlns:a16="http://schemas.microsoft.com/office/drawing/2014/main" id="{70D8EE04-6408-ED40-2ED0-CB70ED00B91D}"/>
              </a:ext>
            </a:extLst>
          </p:cNvPr>
          <p:cNvSpPr>
            <a:spLocks noGrp="1"/>
          </p:cNvSpPr>
          <p:nvPr>
            <p:ph type="title"/>
          </p:nvPr>
        </p:nvSpPr>
        <p:spPr>
          <a:xfrm>
            <a:off x="839788" y="457200"/>
            <a:ext cx="10633343" cy="1600200"/>
          </a:xfrm>
        </p:spPr>
        <p:txBody>
          <a:bodyPr/>
          <a:lstStyle/>
          <a:p>
            <a:pPr algn="ctr"/>
            <a:r>
              <a:rPr lang="en-US" b="1" dirty="0">
                <a:solidFill>
                  <a:srgbClr val="F3C910"/>
                </a:solidFill>
                <a:latin typeface="+mn-lt"/>
              </a:rPr>
              <a:t>KEY INSIGHTS</a:t>
            </a:r>
            <a:br>
              <a:rPr lang="en-US" b="1" dirty="0">
                <a:solidFill>
                  <a:srgbClr val="F3C910"/>
                </a:solidFill>
                <a:latin typeface="+mn-lt"/>
              </a:rPr>
            </a:br>
            <a:r>
              <a:rPr lang="en-US" b="1" dirty="0">
                <a:solidFill>
                  <a:srgbClr val="F3C910"/>
                </a:solidFill>
                <a:latin typeface="+mn-lt"/>
              </a:rPr>
              <a:t>Most Favorite Programming Language</a:t>
            </a:r>
          </a:p>
        </p:txBody>
      </p:sp>
      <p:pic>
        <p:nvPicPr>
          <p:cNvPr id="19" name="Picture 18">
            <a:extLst>
              <a:ext uri="{FF2B5EF4-FFF2-40B4-BE49-F238E27FC236}">
                <a16:creationId xmlns:a16="http://schemas.microsoft.com/office/drawing/2014/main" id="{676A2C73-8428-5F85-D101-819588AE13E6}"/>
              </a:ext>
            </a:extLst>
          </p:cNvPr>
          <p:cNvPicPr>
            <a:picLocks noChangeAspect="1"/>
          </p:cNvPicPr>
          <p:nvPr/>
        </p:nvPicPr>
        <p:blipFill>
          <a:blip r:embed="rId4"/>
          <a:stretch>
            <a:fillRect/>
          </a:stretch>
        </p:blipFill>
        <p:spPr>
          <a:xfrm>
            <a:off x="1188162" y="2362050"/>
            <a:ext cx="4907839" cy="2956789"/>
          </a:xfrm>
          <a:prstGeom prst="rect">
            <a:avLst/>
          </a:prstGeom>
        </p:spPr>
      </p:pic>
      <p:pic>
        <p:nvPicPr>
          <p:cNvPr id="21" name="Picture 20">
            <a:extLst>
              <a:ext uri="{FF2B5EF4-FFF2-40B4-BE49-F238E27FC236}">
                <a16:creationId xmlns:a16="http://schemas.microsoft.com/office/drawing/2014/main" id="{D7B7B833-4874-7B26-A9F8-BD961EF7086C}"/>
              </a:ext>
            </a:extLst>
          </p:cNvPr>
          <p:cNvPicPr>
            <a:picLocks noChangeAspect="1"/>
          </p:cNvPicPr>
          <p:nvPr/>
        </p:nvPicPr>
        <p:blipFill>
          <a:blip r:embed="rId5"/>
          <a:stretch>
            <a:fillRect/>
          </a:stretch>
        </p:blipFill>
        <p:spPr>
          <a:xfrm>
            <a:off x="6521570" y="2362051"/>
            <a:ext cx="4951561" cy="2956789"/>
          </a:xfrm>
          <a:prstGeom prst="rect">
            <a:avLst/>
          </a:prstGeom>
        </p:spPr>
      </p:pic>
      <p:sp>
        <p:nvSpPr>
          <p:cNvPr id="22" name="TextBox 21">
            <a:extLst>
              <a:ext uri="{FF2B5EF4-FFF2-40B4-BE49-F238E27FC236}">
                <a16:creationId xmlns:a16="http://schemas.microsoft.com/office/drawing/2014/main" id="{AD705CD9-9175-A2B0-79B2-5BE69131AA89}"/>
              </a:ext>
            </a:extLst>
          </p:cNvPr>
          <p:cNvSpPr txBox="1"/>
          <p:nvPr/>
        </p:nvSpPr>
        <p:spPr>
          <a:xfrm>
            <a:off x="1188163" y="5433705"/>
            <a:ext cx="10284968" cy="1569660"/>
          </a:xfrm>
          <a:prstGeom prst="rect">
            <a:avLst/>
          </a:prstGeom>
          <a:noFill/>
        </p:spPr>
        <p:txBody>
          <a:bodyPr wrap="square" rtlCol="0">
            <a:spAutoFit/>
          </a:bodyPr>
          <a:lstStyle/>
          <a:p>
            <a:pPr algn="just"/>
            <a:r>
              <a:rPr lang="en-US" sz="2800" dirty="0">
                <a:solidFill>
                  <a:srgbClr val="F3C910"/>
                </a:solidFill>
              </a:rPr>
              <a:t>About 67% of participants chose Python as their favorite programming language while 16% chose R. Both are commonly used in all the data professions.</a:t>
            </a:r>
          </a:p>
          <a:p>
            <a:endParaRPr lang="en-US" sz="1200" dirty="0"/>
          </a:p>
        </p:txBody>
      </p:sp>
    </p:spTree>
    <p:extLst>
      <p:ext uri="{BB962C8B-B14F-4D97-AF65-F5344CB8AC3E}">
        <p14:creationId xmlns:p14="http://schemas.microsoft.com/office/powerpoint/2010/main" val="1020016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362D525-2A85-8DE9-FB64-0539162ABF1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A24A60A2-4121-8D98-8D3D-B92887B98BC1}"/>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6" name="Picture 15" descr="Microsoft Power BI">
            <a:extLst>
              <a:ext uri="{FF2B5EF4-FFF2-40B4-BE49-F238E27FC236}">
                <a16:creationId xmlns:a16="http://schemas.microsoft.com/office/drawing/2014/main" id="{DC2C0348-2B5B-58D8-A8E9-2DDDA3F0B3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sp>
        <p:nvSpPr>
          <p:cNvPr id="5" name="Title 4">
            <a:extLst>
              <a:ext uri="{FF2B5EF4-FFF2-40B4-BE49-F238E27FC236}">
                <a16:creationId xmlns:a16="http://schemas.microsoft.com/office/drawing/2014/main" id="{4BAE6A5A-42A9-7028-716E-4E6355AC622E}"/>
              </a:ext>
            </a:extLst>
          </p:cNvPr>
          <p:cNvSpPr>
            <a:spLocks noGrp="1"/>
          </p:cNvSpPr>
          <p:nvPr>
            <p:ph type="title"/>
          </p:nvPr>
        </p:nvSpPr>
        <p:spPr>
          <a:xfrm>
            <a:off x="839788" y="457200"/>
            <a:ext cx="10633343" cy="1600200"/>
          </a:xfrm>
        </p:spPr>
        <p:txBody>
          <a:bodyPr/>
          <a:lstStyle/>
          <a:p>
            <a:pPr algn="ctr"/>
            <a:r>
              <a:rPr lang="en-US" b="1" dirty="0">
                <a:solidFill>
                  <a:srgbClr val="F3C910"/>
                </a:solidFill>
                <a:latin typeface="+mn-lt"/>
              </a:rPr>
              <a:t>KEY INSIGHTS</a:t>
            </a:r>
            <a:br>
              <a:rPr lang="en-US" b="1" dirty="0">
                <a:solidFill>
                  <a:srgbClr val="F3C910"/>
                </a:solidFill>
                <a:latin typeface="+mn-lt"/>
              </a:rPr>
            </a:br>
            <a:r>
              <a:rPr lang="en-US" b="1" dirty="0">
                <a:solidFill>
                  <a:srgbClr val="F3C910"/>
                </a:solidFill>
                <a:latin typeface="+mn-lt"/>
              </a:rPr>
              <a:t>Career Switch</a:t>
            </a:r>
          </a:p>
        </p:txBody>
      </p:sp>
      <p:pic>
        <p:nvPicPr>
          <p:cNvPr id="12" name="Content Placeholder 11">
            <a:extLst>
              <a:ext uri="{FF2B5EF4-FFF2-40B4-BE49-F238E27FC236}">
                <a16:creationId xmlns:a16="http://schemas.microsoft.com/office/drawing/2014/main" id="{9AE93EBB-579A-BD94-CB1C-2F5475EB24FD}"/>
              </a:ext>
            </a:extLst>
          </p:cNvPr>
          <p:cNvPicPr>
            <a:picLocks noGrp="1" noChangeAspect="1"/>
          </p:cNvPicPr>
          <p:nvPr>
            <p:ph idx="1"/>
          </p:nvPr>
        </p:nvPicPr>
        <p:blipFill>
          <a:blip r:embed="rId4"/>
          <a:srcRect/>
          <a:stretch/>
        </p:blipFill>
        <p:spPr>
          <a:xfrm>
            <a:off x="1242207" y="2514600"/>
            <a:ext cx="4934308" cy="3619564"/>
          </a:xfrm>
        </p:spPr>
      </p:pic>
      <p:sp>
        <p:nvSpPr>
          <p:cNvPr id="2" name="TextBox 1">
            <a:extLst>
              <a:ext uri="{FF2B5EF4-FFF2-40B4-BE49-F238E27FC236}">
                <a16:creationId xmlns:a16="http://schemas.microsoft.com/office/drawing/2014/main" id="{FBF46007-CEC0-005E-F9C2-DB29D753BE41}"/>
              </a:ext>
            </a:extLst>
          </p:cNvPr>
          <p:cNvSpPr txBox="1"/>
          <p:nvPr/>
        </p:nvSpPr>
        <p:spPr>
          <a:xfrm>
            <a:off x="6590581" y="3273723"/>
            <a:ext cx="4882550" cy="1569660"/>
          </a:xfrm>
          <a:prstGeom prst="rect">
            <a:avLst/>
          </a:prstGeom>
          <a:noFill/>
        </p:spPr>
        <p:txBody>
          <a:bodyPr wrap="square" rtlCol="0">
            <a:spAutoFit/>
          </a:bodyPr>
          <a:lstStyle/>
          <a:p>
            <a:pPr algn="just"/>
            <a:r>
              <a:rPr lang="en-US" sz="3200" dirty="0">
                <a:solidFill>
                  <a:srgbClr val="F3C910"/>
                </a:solidFill>
              </a:rPr>
              <a:t>The majority of participants switched careers into various data professions.</a:t>
            </a:r>
          </a:p>
        </p:txBody>
      </p:sp>
    </p:spTree>
    <p:extLst>
      <p:ext uri="{BB962C8B-B14F-4D97-AF65-F5344CB8AC3E}">
        <p14:creationId xmlns:p14="http://schemas.microsoft.com/office/powerpoint/2010/main" val="3717983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5C684C8-7D1E-6CD5-4CFE-9B027B941855}"/>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B71EABEB-7201-3ED9-69A8-0448CF6E44B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6" name="Picture 15" descr="Microsoft Power BI">
            <a:extLst>
              <a:ext uri="{FF2B5EF4-FFF2-40B4-BE49-F238E27FC236}">
                <a16:creationId xmlns:a16="http://schemas.microsoft.com/office/drawing/2014/main" id="{6F176EE4-65CB-31C2-328A-CE1A9783C3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sp>
        <p:nvSpPr>
          <p:cNvPr id="5" name="Title 4">
            <a:extLst>
              <a:ext uri="{FF2B5EF4-FFF2-40B4-BE49-F238E27FC236}">
                <a16:creationId xmlns:a16="http://schemas.microsoft.com/office/drawing/2014/main" id="{74F95357-04FE-89EE-D5B6-CCC76B2EBA73}"/>
              </a:ext>
            </a:extLst>
          </p:cNvPr>
          <p:cNvSpPr>
            <a:spLocks noGrp="1"/>
          </p:cNvSpPr>
          <p:nvPr>
            <p:ph type="title"/>
          </p:nvPr>
        </p:nvSpPr>
        <p:spPr>
          <a:xfrm>
            <a:off x="839788" y="457200"/>
            <a:ext cx="10633343" cy="1600200"/>
          </a:xfrm>
        </p:spPr>
        <p:txBody>
          <a:bodyPr/>
          <a:lstStyle/>
          <a:p>
            <a:pPr algn="ctr"/>
            <a:r>
              <a:rPr lang="en-US" b="1" dirty="0">
                <a:solidFill>
                  <a:srgbClr val="F3C910"/>
                </a:solidFill>
                <a:latin typeface="+mn-lt"/>
              </a:rPr>
              <a:t>KEY INSIGHTS</a:t>
            </a:r>
            <a:br>
              <a:rPr lang="en-US" b="1" dirty="0">
                <a:solidFill>
                  <a:srgbClr val="F3C910"/>
                </a:solidFill>
                <a:latin typeface="+mn-lt"/>
              </a:rPr>
            </a:br>
            <a:r>
              <a:rPr lang="en-US" b="1" dirty="0">
                <a:solidFill>
                  <a:srgbClr val="F3C910"/>
                </a:solidFill>
                <a:latin typeface="+mn-lt"/>
              </a:rPr>
              <a:t>Count of C</a:t>
            </a:r>
            <a:r>
              <a:rPr lang="en-US" sz="3200" b="1" dirty="0">
                <a:solidFill>
                  <a:srgbClr val="F3C910"/>
                </a:solidFill>
                <a:latin typeface="+mn-lt"/>
              </a:rPr>
              <a:t>urrent </a:t>
            </a:r>
            <a:r>
              <a:rPr lang="en-US" b="1" dirty="0">
                <a:solidFill>
                  <a:srgbClr val="F3C910"/>
                </a:solidFill>
                <a:latin typeface="+mn-lt"/>
              </a:rPr>
              <a:t>J</a:t>
            </a:r>
            <a:r>
              <a:rPr lang="en-US" sz="3200" b="1" dirty="0">
                <a:solidFill>
                  <a:srgbClr val="F3C910"/>
                </a:solidFill>
                <a:latin typeface="+mn-lt"/>
              </a:rPr>
              <a:t>ob </a:t>
            </a:r>
            <a:r>
              <a:rPr lang="en-US" b="1" dirty="0">
                <a:solidFill>
                  <a:srgbClr val="F3C910"/>
                </a:solidFill>
                <a:latin typeface="+mn-lt"/>
              </a:rPr>
              <a:t>T</a:t>
            </a:r>
            <a:r>
              <a:rPr lang="en-US" sz="3200" b="1" dirty="0">
                <a:solidFill>
                  <a:srgbClr val="F3C910"/>
                </a:solidFill>
                <a:latin typeface="+mn-lt"/>
              </a:rPr>
              <a:t>itles</a:t>
            </a:r>
            <a:endParaRPr lang="en-US" b="1" dirty="0">
              <a:solidFill>
                <a:srgbClr val="F3C910"/>
              </a:solidFill>
              <a:latin typeface="+mn-lt"/>
            </a:endParaRPr>
          </a:p>
        </p:txBody>
      </p:sp>
      <p:pic>
        <p:nvPicPr>
          <p:cNvPr id="12" name="Content Placeholder 11">
            <a:extLst>
              <a:ext uri="{FF2B5EF4-FFF2-40B4-BE49-F238E27FC236}">
                <a16:creationId xmlns:a16="http://schemas.microsoft.com/office/drawing/2014/main" id="{E5FE6E1E-65EE-F82D-D262-3362926FD9CE}"/>
              </a:ext>
            </a:extLst>
          </p:cNvPr>
          <p:cNvPicPr>
            <a:picLocks noGrp="1" noChangeAspect="1"/>
          </p:cNvPicPr>
          <p:nvPr>
            <p:ph idx="1"/>
          </p:nvPr>
        </p:nvPicPr>
        <p:blipFill>
          <a:blip r:embed="rId4"/>
          <a:srcRect/>
          <a:stretch/>
        </p:blipFill>
        <p:spPr>
          <a:xfrm>
            <a:off x="2414233" y="2204046"/>
            <a:ext cx="8092741" cy="3619564"/>
          </a:xfrm>
        </p:spPr>
      </p:pic>
      <p:sp>
        <p:nvSpPr>
          <p:cNvPr id="3" name="TextBox 2">
            <a:extLst>
              <a:ext uri="{FF2B5EF4-FFF2-40B4-BE49-F238E27FC236}">
                <a16:creationId xmlns:a16="http://schemas.microsoft.com/office/drawing/2014/main" id="{B55B6EA1-F454-1640-9B66-9DD240CF0034}"/>
              </a:ext>
            </a:extLst>
          </p:cNvPr>
          <p:cNvSpPr txBox="1"/>
          <p:nvPr/>
        </p:nvSpPr>
        <p:spPr>
          <a:xfrm>
            <a:off x="1328469" y="5892619"/>
            <a:ext cx="10144662" cy="954107"/>
          </a:xfrm>
          <a:prstGeom prst="rect">
            <a:avLst/>
          </a:prstGeom>
          <a:noFill/>
        </p:spPr>
        <p:txBody>
          <a:bodyPr wrap="square" rtlCol="0">
            <a:spAutoFit/>
          </a:bodyPr>
          <a:lstStyle/>
          <a:p>
            <a:pPr algn="ctr"/>
            <a:r>
              <a:rPr lang="en-US" sz="2800" dirty="0">
                <a:solidFill>
                  <a:srgbClr val="F3C910"/>
                </a:solidFill>
              </a:rPr>
              <a:t>381 Data Analysts; 38 Data Engineers; 25 Data Scientists; 5 Database Developers; and 3 Data Architects</a:t>
            </a:r>
          </a:p>
        </p:txBody>
      </p:sp>
    </p:spTree>
    <p:extLst>
      <p:ext uri="{BB962C8B-B14F-4D97-AF65-F5344CB8AC3E}">
        <p14:creationId xmlns:p14="http://schemas.microsoft.com/office/powerpoint/2010/main" val="1561079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2F2C231-0679-2B29-E6B3-9BDEA91949C3}"/>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E478EF1-2209-AEA8-C90D-28A263BC8413}"/>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6072"/>
            <a:ext cx="12192000" cy="6858000"/>
          </a:xfrm>
          <a:prstGeom prst="rect">
            <a:avLst/>
          </a:prstGeom>
        </p:spPr>
      </p:pic>
      <p:pic>
        <p:nvPicPr>
          <p:cNvPr id="16" name="Picture 15" descr="Microsoft Power BI">
            <a:extLst>
              <a:ext uri="{FF2B5EF4-FFF2-40B4-BE49-F238E27FC236}">
                <a16:creationId xmlns:a16="http://schemas.microsoft.com/office/drawing/2014/main" id="{C4FA48A5-AF60-4373-C0BD-AC6074415D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sp>
        <p:nvSpPr>
          <p:cNvPr id="3" name="TextBox 2">
            <a:extLst>
              <a:ext uri="{FF2B5EF4-FFF2-40B4-BE49-F238E27FC236}">
                <a16:creationId xmlns:a16="http://schemas.microsoft.com/office/drawing/2014/main" id="{D9911842-ACE1-72BB-9B16-69EC8AAC3941}"/>
              </a:ext>
            </a:extLst>
          </p:cNvPr>
          <p:cNvSpPr txBox="1"/>
          <p:nvPr/>
        </p:nvSpPr>
        <p:spPr>
          <a:xfrm>
            <a:off x="923544" y="1138687"/>
            <a:ext cx="10584094" cy="584775"/>
          </a:xfrm>
          <a:prstGeom prst="rect">
            <a:avLst/>
          </a:prstGeom>
          <a:noFill/>
        </p:spPr>
        <p:txBody>
          <a:bodyPr wrap="square" rtlCol="0">
            <a:spAutoFit/>
          </a:bodyPr>
          <a:lstStyle/>
          <a:p>
            <a:pPr algn="ctr"/>
            <a:r>
              <a:rPr lang="en-US" sz="3200" b="1" dirty="0">
                <a:solidFill>
                  <a:srgbClr val="F3C910"/>
                </a:solidFill>
              </a:rPr>
              <a:t>SUMMARY AND CONCLUSION</a:t>
            </a:r>
          </a:p>
        </p:txBody>
      </p:sp>
      <p:sp>
        <p:nvSpPr>
          <p:cNvPr id="5" name="TextBox 4">
            <a:extLst>
              <a:ext uri="{FF2B5EF4-FFF2-40B4-BE49-F238E27FC236}">
                <a16:creationId xmlns:a16="http://schemas.microsoft.com/office/drawing/2014/main" id="{437C6752-9231-50D6-E4EC-F2203AA9E73B}"/>
              </a:ext>
            </a:extLst>
          </p:cNvPr>
          <p:cNvSpPr txBox="1"/>
          <p:nvPr/>
        </p:nvSpPr>
        <p:spPr>
          <a:xfrm>
            <a:off x="923544" y="2260121"/>
            <a:ext cx="10584094" cy="4031873"/>
          </a:xfrm>
          <a:prstGeom prst="rect">
            <a:avLst/>
          </a:prstGeom>
          <a:noFill/>
        </p:spPr>
        <p:txBody>
          <a:bodyPr wrap="square" rtlCol="0">
            <a:spAutoFit/>
          </a:bodyPr>
          <a:lstStyle/>
          <a:p>
            <a:pPr algn="just"/>
            <a:r>
              <a:rPr lang="en-US" sz="3200" dirty="0">
                <a:solidFill>
                  <a:srgbClr val="F3C910"/>
                </a:solidFill>
              </a:rPr>
              <a:t>The majority of survey participants are data analysts, and while they report a good work-life balance, their salary satisfaction is notably lower compared to data scientists. Python and R are widely used across all data professions, with Python emerging as the most popular, favored by 67% of respondents.</a:t>
            </a:r>
          </a:p>
          <a:p>
            <a:pPr algn="just"/>
            <a:r>
              <a:rPr lang="en-US" sz="3200" dirty="0">
                <a:solidFill>
                  <a:srgbClr val="F3C910"/>
                </a:solidFill>
              </a:rPr>
              <a:t>Data-related professions are becoming increasingly popular, with many respondents having transitioned into these careers.</a:t>
            </a:r>
          </a:p>
        </p:txBody>
      </p:sp>
    </p:spTree>
    <p:extLst>
      <p:ext uri="{BB962C8B-B14F-4D97-AF65-F5344CB8AC3E}">
        <p14:creationId xmlns:p14="http://schemas.microsoft.com/office/powerpoint/2010/main" val="4089317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card ,card ,Average Salary by Job Title , Most Favorite Programming Languages ,Count of Participants by Country ,Happy Work/Life Balance ,Happy Salary ,Average Salary by Gender.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Page 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7F45EB-559A-6F11-C160-AC9DB026CFA2}"/>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2415396" y="0"/>
            <a:ext cx="7109604" cy="6858000"/>
          </a:xfrm>
          <a:prstGeom prst="rect">
            <a:avLst/>
          </a:prstGeom>
        </p:spPr>
      </p:pic>
    </p:spTree>
    <p:extLst>
      <p:ext uri="{BB962C8B-B14F-4D97-AF65-F5344CB8AC3E}">
        <p14:creationId xmlns:p14="http://schemas.microsoft.com/office/powerpoint/2010/main" val="963687177"/>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489</TotalTime>
  <Words>470</Words>
  <Application>Microsoft Office PowerPoint</Application>
  <PresentationFormat>Widescreen</PresentationFormat>
  <Paragraphs>66</Paragraphs>
  <Slides>13</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Arial</vt:lpstr>
      <vt:lpstr>Calibri</vt:lpstr>
      <vt:lpstr>Calibri Light</vt:lpstr>
      <vt:lpstr>Wingdings</vt:lpstr>
      <vt:lpstr>Custom Design</vt:lpstr>
      <vt:lpstr>Office Theme</vt:lpstr>
      <vt:lpstr>DATA PROFESSIONALS: SURVEY INSIGHTS</vt:lpstr>
      <vt:lpstr>PowerPoint Presentation</vt:lpstr>
      <vt:lpstr>PowerPoint Presentation</vt:lpstr>
      <vt:lpstr>PowerPoint Presentation</vt:lpstr>
      <vt:lpstr>PowerPoint Presentation</vt:lpstr>
      <vt:lpstr>KEY INSIGHTS Average Salary By Current Job Title</vt:lpstr>
      <vt:lpstr>KEY INSIGHTS Happiness With Work-Life Balance And Salary</vt:lpstr>
      <vt:lpstr>KEY INSIGHTS Most Favorite Programming Language</vt:lpstr>
      <vt:lpstr>KEY INSIGHTS Career Switch</vt:lpstr>
      <vt:lpstr>KEY INSIGHTS Count of Current Job Titles</vt:lpstr>
      <vt:lpstr>PowerPoint Presentation</vt:lpstr>
      <vt:lpstr>Page 1</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ABDULRAHMAN HAMZAT</cp:lastModifiedBy>
  <cp:revision>60</cp:revision>
  <dcterms:created xsi:type="dcterms:W3CDTF">2016-09-04T11:54:55Z</dcterms:created>
  <dcterms:modified xsi:type="dcterms:W3CDTF">2025-02-10T15:18:11Z</dcterms:modified>
</cp:coreProperties>
</file>